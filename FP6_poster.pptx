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5b275bcaa7f43b9" Type="http://schemas.openxmlformats.org/officeDocument/2006/relationships/extended-properties" Target="docProps/app.xml"/><Relationship Id="R54fa35aa179046f1" Type="http://schemas.openxmlformats.org/package/2006/relationships/metadata/core-properties" Target="docProps/core.xml"/><Relationship Id="Rfa7cdf3286a4493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e0be2baf44fb3"/>
  </p:sldMasterIdLst>
  <p:notesMasterIdLst>
    <p:notesMasterId xmlns:r="http://schemas.openxmlformats.org/officeDocument/2006/relationships" r:id="Rfa17dfdfb10a42da"/>
  </p:notesMasterIdLst>
  <p:sldIdLst>
    <p:sldId xmlns:r="http://schemas.openxmlformats.org/officeDocument/2006/relationships" id="256" r:id="Re53aa7dfdd9a423f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1ce0be2baf44fb3" Type="http://schemas.openxmlformats.org/officeDocument/2006/relationships/slideMaster" Target="slideMasters/slideMaster1.xml"/><Relationship Id="Rb3bb96e5aaa942a9" Type="http://schemas.openxmlformats.org/officeDocument/2006/relationships/tableStyles" Target="tableStyles.xml"/><Relationship Id="Re53aa7dfdd9a423f" Type="http://schemas.openxmlformats.org/officeDocument/2006/relationships/slide" Target="slides/slide1.xml"/><Relationship Id="Reb9c1c0d3bd740d5" Type="http://schemas.openxmlformats.org/officeDocument/2006/relationships/theme" Target="theme/theme1.xml"/><Relationship Id="Rfa17dfdfb10a42da" Type="http://schemas.openxmlformats.org/officeDocument/2006/relationships/notesMaster" Target="notesMasters/notesMaster1.xml"/><Relationship Id="Rff365e84cf5e4ab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a9fb22c051c6418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ae96ba7539e46fd" Type="http://schemas.openxmlformats.org/officeDocument/2006/relationships/notesMaster" Target="../notesMasters/notesMaster1.xml"/><Relationship Id="Rf396af4e598b4d65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COMSCI/ECON 206 PS2 clean A0 poster template.</a:t>
            </a:r>
          </a:p>
          <a:p xmlns:a="http://schemas.openxmlformats.org/drawingml/2006/main">
            <a:r>
              <a:t>Brand guide: https://dku-web-admissions.s3.cn-north-1.amazonaws.com.cn/dkumain/wp-content/uploads/mainsite/2022/05/brand-guide-compressed_2021.pdf, linked from https://www.dukekunshan.edu.cn/media/. Guide pp. 5, 6, 12, 14, and 15 establish logo clear space/proportions, unchanged logo artwork, application colors #003399 and #006633 plus white, and Calibri as the office system font when InterstatePlus cannot be used. Official logo asset: https://www.dukekunshan.edu.cn/wp-content/uploads/2021/08/large_dku-Logo.png.</a:t>
            </a:r>
          </a:p>
          <a:p xmlns:a="http://schemas.openxmlformats.org/drawingml/2006/main">
            <a:r>
              <a:t>Calibri is specified in the editable PowerPoint. The exported PDF uses Carlito, a metric-compatible open-source substitute because Calibri is unavailable in the export environment. Re-export from PowerPoint with Calibri for institution-font-exact output.</a:t>
            </a:r>
          </a:p>
          <a:p xmlns:a="http://schemas.openxmlformats.org/drawingml/2006/main">
            <a:r>
              <a:t>Clean and annotated versions share all element positions. Keep A0 landscape 1189 x 841 mm, 100% print scale. Text and figure/QR placeholders are editable; preserve the embedded logo unchanged and keep at least half its height as clear space. Instructor belongs below authors, not in the author list. Replace all placeholders with actual work; distinguish observed results, inferences, and planned tests. QR codes are optional but full public URLs and tested access are required. References must be full and traceable; acknowledgments must name actual contributions and AI assistance. Sep 28: symposium, peer evaluation and real-world case impacts. Sep 30: final update. The PS1-style paper, LaTeX, and learning pathway are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7d046784472482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a4788c4bc324917" Type="http://schemas.openxmlformats.org/officeDocument/2006/relationships/slideLayout" Target="../slideLayouts/slideLayout1.xml"/><Relationship Id="Rbca0c608f96e4fc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788c4bc32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f0a5e15b1641f5" Type="http://schemas.openxmlformats.org/officeDocument/2006/relationships/slideLayout" Target="../slideLayouts/slideLayout1.xml"/><Relationship Id="R8589f253b81f4b2e" Type="http://schemas.openxmlformats.org/officeDocument/2006/relationships/image" Target="../media/image.png"/><Relationship Id="Rfdc35221e9b342cb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</a:rPr>
              <a:t>COMSCI / ECON 206   |   FINAL RESEARCH PROJECT   |   AUTUMN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400"/>
              </a:spcAft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3399"/>
                </a:solidFill>
                <a:latin typeface="Calibri"/>
              </a:rPr>
              <a:t>FINAL PROJECT A0 POSTER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900" b="1">
                <a:solidFill>
                  <a:srgbClr val="1A2E4A"/>
                </a:solidFill>
                <a:latin typeface="Calibri"/>
              </a:rPr>
              <a:t>AI, Rent-Seeking, and Ticket Allocation: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7900" b="1">
                <a:solidFill>
                  <a:srgbClr val="1A2E4A"/>
                </a:solidFill>
                <a:latin typeface="Calibri"/>
              </a:rPr>
              <a:t>Mechanism Design under Asymmetric Participation Costs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405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A2E4A"/>
                </a:solidFill>
                <a:latin typeface="Calibri"/>
              </a:rPr>
              <a:t>Longfei Jing  ·  Tian Liang  ·  Jiayang Sun   |   Team FP6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0">
                <a:solidFill>
                  <a:srgbClr val="455263"/>
                </a:solidFill>
                <a:latin typeface="Calibri"/>
              </a:rPr>
              <a:t>Course instructor: Professor Luyao Zhang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1F461D-1490-48F0-A936-557E3E818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9f253b81f4b2e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</a:rPr>
              <a:t>AI lowers strategic participation costs asymmetrically. Synthetic tests show effort contests can cross a sharp threshold, while lotteries resist speed advantages but remain vulnerable to cheap identities.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100" b="1">
                <a:solidFill>
                  <a:srgbClr val="003399"/>
                </a:solidFill>
                <a:latin typeface="Calibri"/>
              </a:rPr>
              <a:t>01   Question and foundations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003399"/>
                </a:solidFill>
                <a:latin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1A2E4A"/>
                </a:solidFill>
                <a:latin typeface="Calibri"/>
              </a:rPr>
              <a:t>RQ: How does AI cost asymmetry change genuine fan access and welfare?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A2E4A"/>
                </a:solidFill>
                <a:latin typeface="Calibri"/>
              </a:rPr>
              <a:t>Setting: 200 fans, 50 scalpers, one $100 ticket; resale $180.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A2E4A"/>
                </a:solidFill>
                <a:latin typeface="Calibri"/>
              </a:rPr>
              <a:t>Closest research: Leslie–Sorensen (2014), Hakimov et al. (2021), Mazorra–Della Penna (2023).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A2E4A"/>
                </a:solidFill>
                <a:latin typeface="Calibri"/>
              </a:rPr>
              <a:t>Gap: compare effort and verified randomization under an AI cost shock.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003399"/>
                </a:solidFill>
                <a:latin typeface="Calibri"/>
              </a:rPr>
              <a:t>Strategic model and Intellectual Merits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0">
                <a:solidFill>
                  <a:srgbClr val="1A2E4A"/>
                </a:solidFill>
                <a:latin typeface="Calibri"/>
              </a:rPr>
              <a:t>Players: fans and scalpers; platform commits to a rule first.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A2E4A"/>
                </a:solidFill>
                <a:latin typeface="Calibri"/>
              </a:rPr>
              <a:t>Effort contest: Pᵢ = eᵢ / Σeⱼ; utility = VᵢPᵢ − cᵢeᵢ; active-set Nash benchmark.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A2E4A"/>
                </a:solidFill>
                <a:latin typeface="Calibri"/>
              </a:rPr>
              <a:t>Verified lottery: one fan entry; scalpers may buy up to 8 identities at cost k.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A2E4A"/>
                </a:solidFill>
                <a:latin typeface="Calibri"/>
              </a:rPr>
              <a:t>Contribution: compare robustness under asymmetric AI costs, not an empirical AI effect.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003399"/>
                </a:solidFill>
                <a:latin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1A2E4A"/>
                </a:solidFill>
                <a:latin typeface="Calibri"/>
              </a:rPr>
              <a:t>Game theory — predicts effort under strategic cost changes.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1A2E4A"/>
                </a:solidFill>
                <a:latin typeface="Calibri"/>
              </a:rPr>
              <a:t>Social choice — separates primary access, final ownership and welfare.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1A2E4A"/>
                </a:solidFill>
                <a:latin typeface="Calibri"/>
              </a:rPr>
              <a:t>Mechanism design — contrasts effort-based allocation with verified randomization.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003399"/>
                </a:solidFill>
                <a:latin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1A2E4A"/>
                </a:solidFill>
                <a:latin typeface="Calibri"/>
              </a:rPr>
              <a:t>Scarce resource: one representative concert ticket.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A2E4A"/>
                </a:solidFill>
                <a:latin typeface="Calibri"/>
              </a:rPr>
              <a:t>Contest: players pay effort costs regardless of outcome.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A2E4A"/>
                </a:solidFill>
                <a:latin typeface="Calibri"/>
              </a:rPr>
              <a:t>Lottery: random draw among entries; winner pays $100.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A2E4A"/>
                </a:solidFill>
                <a:latin typeface="Calibri"/>
              </a:rPr>
              <a:t>Both allow stipulated resale at $180. One ticket is NOT an entire concert inventory.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100" b="1">
                <a:solidFill>
                  <a:srgbClr val="003399"/>
                </a:solidFill>
                <a:latin typeface="Calibri"/>
              </a:rPr>
              <a:t>02   Model and verified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2917805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8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300" b="0">
                <a:solidFill>
                  <a:srgbClr val="455263"/>
                </a:solidFill>
                <a:latin typeface="Calibri"/>
              </a:rPr>
              <a:t>Figure 1. Closest foundations [1–3] → bounded asymmetric-cost mechanism comparison → simulated outcomes. No real-market validation.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0010120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455263"/>
                </a:solidFill>
                <a:latin typeface="Calibri"/>
              </a:rPr>
              <a:t>Figure 2. Synthetic primary fan allocation: Effort Contest 100.0% → 0.0%; Verified Lottery 80.6% → 49.8% (no AI → AI stress).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455263"/>
                </a:solidFill>
                <a:latin typeface="Calibri"/>
              </a:rPr>
              <a:t>Seed 2026; 5,000 runs per main condition; 500 per sensitivity point. Reproduce: GitHub commit ce6cb2b.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455263"/>
                </a:solidFill>
                <a:latin typeface="Calibri"/>
              </a:rPr>
              <a:t>Sensitivity: effort threshold at scalper costs 3→2; lottery identity cost k=.05 gives 7 identities and 36.2% fan access. Final ownership stays 100% in four baselines.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100" b="1">
                <a:solidFill>
                  <a:srgbClr val="003399"/>
                </a:solidFill>
                <a:latin typeface="Calibri"/>
              </a:rPr>
              <a:t>03   Practical impacts and roadmap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003399"/>
                </a:solidFill>
                <a:latin typeface="Calibri"/>
              </a:rPr>
              <a:t>Practical Impacts: SDG 10 · Target 10.3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</a:rPr>
              <a:t>Future Research Roadmap — NEW diagram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003399"/>
                </a:solidFill>
                <a:latin typeface="Calibri"/>
              </a:rPr>
              <a:t>Integration, limitations and team contributions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A2E4A"/>
                </a:solidFill>
                <a:latin typeface="Calibri"/>
              </a:rPr>
              <a:t>Longfei Jing: strategic value and welfare accounting; symmetric hand check.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A2E4A"/>
                </a:solidFill>
                <a:latin typeface="Calibri"/>
              </a:rPr>
              <a:t>Tian Liang: exact Tullock computation and sensitivity; reproducibility checks.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A2E4A"/>
                </a:solidFill>
                <a:latin typeface="Calibri"/>
              </a:rPr>
              <a:t>Jiayang Sun: behavioral probe, poster integration, and primary-vs-final access interpretation.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A2E4A"/>
                </a:solidFill>
                <a:latin typeface="Calibri"/>
              </a:rPr>
              <a:t>All new ABM / LLM / pilot studies are PLANNED, not completed.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900" b="1">
                <a:solidFill>
                  <a:srgbClr val="006633"/>
                </a:solidFill>
                <a:latin typeface="Calibri"/>
              </a:rPr>
              <a:t>OCT 12   Literature &amp; duet defense    •    OCT 14   Roundtable feedback    •    OCT 21   Final release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</a:rPr>
              <a:t>Full 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A2E4A"/>
                </a:solidFill>
                <a:latin typeface="Calibri"/>
              </a:rPr>
              <a:t>Prof. Luyao Zhang (mechanism and evidence guidance); Prof. Ken Rogerson (Sept 7 discussant); Han Zhang (course support). Reviewers: Yiqiao Liu, Xinrong Sun, Yongzhuo Wu, Muhan Chen (Sept 28 critiques); Zimu Zhou (Oct 12 literature/duet). Tencent Shanghai office; Shanghai Science and Technology Museum (field learning); COMSCI/ECON 206 class (discussion). Python, NumPy, pandas, Matplotlib, Colab, GitHub, Hugging Face, Overleaf; permitted ChatGPT assistance; authors checked claims.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79750"/>
            <a:ext cx="1419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55263"/>
                </a:solidFill>
                <a:latin typeface="Calibri"/>
              </a:rPr>
              <a:t>[1] Leslie &amp; Sorensen (2014), Review of Economic Studies. doi:10.1093/restud/rdt033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55263"/>
                </a:solidFill>
                <a:latin typeface="Calibri"/>
              </a:rPr>
              <a:t>[2] Hakimov et al. (2021), American Economic Review. doi:10.1257/aer.20191204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55263"/>
                </a:solidFill>
                <a:latin typeface="Calibri"/>
              </a:rPr>
              <a:t>[3] Mazorra &amp; Della Penna (2023), arXiv:2301.12813. doi:10.48550/arXiv.2301.12813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55263"/>
                </a:solidFill>
                <a:latin typeface="Calibri"/>
              </a:rPr>
              <a:t>[4] Nash (1950), PNAS. doi:10.1073/pnas.36.1.48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003399"/>
                </a:solidFill>
                <a:latin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838450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455263"/>
                </a:solidFill>
                <a:latin typeface="Calibri"/>
              </a:rPr>
              <a:t>GitHub: github.com/dku-comsci-econ206-Autumn2026/PS2-Adaptive-Ticket-Auctions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455263"/>
                </a:solidFill>
                <a:latin typeface="Calibri"/>
              </a:rPr>
              <a:t>Hugging Face: huggingface.co/spaces/dku-comsci-econ206-2026/ai-ticket-allocation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455263"/>
                </a:solidFill>
                <a:latin typeface="Calibri"/>
              </a:rPr>
              <a:t>Baseline: ce6cb2b · Final commit to be recorded at release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0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000" b="0">
                <a:solidFill>
                  <a:srgbClr val="1A2E4A"/>
                </a:solidFill>
                <a:latin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2857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3152" rIns="73152" tIns="18288" bIns="18288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  <a:defRPr sz="19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455263"/>
                </a:solidFill>
                <a:latin typeface="Calibri"/>
              </a:rPr>
              <a:t>A0 landscape · 1189 × 841 mm   |   Final Project working poster · verify official SDG artwork, full credits and final commit before release</a:t>
            </a:r>
          </a:p>
        </p:txBody>
      </p:sp>
      <p:sp xmlns:a="http://schemas.openxmlformats.org/drawingml/2006/main">
        <p:nvSpPr>
          <p:cNvPr id="59" name="Rounded Rectangle 58"/>
          <p:cNvSpPr/>
          <p:nvPr/>
        </p:nvSpPr>
        <p:spPr>
          <a:xfrm>
            <a:off x="13716000" y="11612880"/>
            <a:ext cx="4754880" cy="3337560"/>
          </a:xfrm>
          <a:prstGeom prst="roundRect">
            <a:avLst/>
          </a:prstGeom>
          <a:solidFill>
            <a:srgbClr val="EDF4F9"/>
          </a:solidFill>
          <a:ln w="2159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1A2E4A"/>
                </a:solidFill>
                <a:latin typeface="Calibri"/>
              </a:rPr>
              <a:t>INHERITED</a:t>
            </a:r>
          </a:p>
          <a:p>
            <a:pPr algn="ctr">
              <a:spcAft>
                <a:spcPts val="5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Resale / rent-seeking</a:t>
            </a:r>
          </a:p>
          <a:p>
            <a:pPr algn="ctr">
              <a:spcAft>
                <a:spcPts val="5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Booking and Sybil costs</a:t>
            </a:r>
          </a:p>
        </p:txBody>
      </p:sp>
      <p:sp xmlns:a="http://schemas.openxmlformats.org/drawingml/2006/main">
        <p:nvSpPr>
          <p:cNvPr id="60" name="Rounded Rectangle 59"/>
          <p:cNvSpPr/>
          <p:nvPr/>
        </p:nvSpPr>
        <p:spPr>
          <a:xfrm>
            <a:off x="19019520" y="11612880"/>
            <a:ext cx="4754880" cy="3337560"/>
          </a:xfrm>
          <a:prstGeom prst="roundRect">
            <a:avLst/>
          </a:prstGeom>
          <a:solidFill>
            <a:srgbClr val="EBF7F0"/>
          </a:solidFill>
          <a:ln w="2159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1A2E4A"/>
                </a:solidFill>
                <a:latin typeface="Calibri"/>
              </a:rPr>
              <a:t>OUR CONTRIBUTION</a:t>
            </a:r>
          </a:p>
          <a:p>
            <a:pPr algn="ctr">
              <a:spcAft>
                <a:spcPts val="5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AI asymmetric cost shock</a:t>
            </a:r>
          </a:p>
          <a:p>
            <a:pPr algn="ctr">
              <a:spcAft>
                <a:spcPts val="5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Contest vs. lottery</a:t>
            </a:r>
          </a:p>
        </p:txBody>
      </p:sp>
      <p:sp xmlns:a="http://schemas.openxmlformats.org/drawingml/2006/main">
        <p:nvSpPr>
          <p:cNvPr id="61" name="Rounded Rectangle 60"/>
          <p:cNvSpPr/>
          <p:nvPr/>
        </p:nvSpPr>
        <p:spPr>
          <a:xfrm>
            <a:off x="24323040" y="11612880"/>
            <a:ext cx="4663440" cy="3337560"/>
          </a:xfrm>
          <a:prstGeom prst="roundRect">
            <a:avLst/>
          </a:prstGeom>
          <a:solidFill>
            <a:srgbClr val="EDF4F9"/>
          </a:solidFill>
          <a:ln w="2159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1A2E4A"/>
                </a:solidFill>
                <a:latin typeface="Calibri"/>
              </a:rPr>
              <a:t>EVIDENCE</a:t>
            </a:r>
          </a:p>
          <a:p>
            <a:pPr algn="ctr">
              <a:spcAft>
                <a:spcPts val="5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5,000-run synthetic tests</a:t>
            </a:r>
          </a:p>
          <a:p>
            <a:pPr algn="ctr">
              <a:spcAft>
                <a:spcPts val="5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Sensitivity &amp; welfare</a:t>
            </a:r>
          </a:p>
        </p:txBody>
      </p:sp>
      <p:pic xmlns:a="http://schemas.openxmlformats.org/drawingml/2006/main" xmlns:r="http://schemas.openxmlformats.org/officeDocument/2006/relationships">
        <p:nvPicPr>
          <p:cNvPr id="62" name="Picture 6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18013680"/>
            <a:ext cx="15453359" cy="470916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63" name="Picture 62" descr="sdg10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0960" y="11932920"/>
            <a:ext cx="1572768" cy="1572768"/>
          </a:xfrm>
          <a:prstGeom prst="rect">
            <a:avLst/>
          </a:prstGeom>
        </p:spPr>
      </p:pic>
      <p:sp xmlns:a="http://schemas.openxmlformats.org/drawingml/2006/main">
        <p:nvSpPr>
          <p:cNvPr id="64" name="Rounded Rectangle 63"/>
          <p:cNvSpPr/>
          <p:nvPr/>
        </p:nvSpPr>
        <p:spPr>
          <a:xfrm>
            <a:off x="32324040" y="11960352"/>
            <a:ext cx="4087368" cy="1417320"/>
          </a:xfrm>
          <a:prstGeom prst="roundRect">
            <a:avLst/>
          </a:prstGeom>
          <a:solidFill>
            <a:srgbClr val="EDF4F9"/>
          </a:solidFill>
          <a:ln w="2159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1A2E4A"/>
                </a:solidFill>
                <a:latin typeface="Calibri"/>
              </a:rPr>
              <a:t>MECHANISM</a:t>
            </a:r>
          </a:p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Contest vs. lottery</a:t>
            </a:r>
          </a:p>
        </p:txBody>
      </p:sp>
      <p:sp xmlns:a="http://schemas.openxmlformats.org/drawingml/2006/main">
        <p:nvSpPr>
          <p:cNvPr id="65" name="Rounded Rectangle 64"/>
          <p:cNvSpPr/>
          <p:nvPr/>
        </p:nvSpPr>
        <p:spPr>
          <a:xfrm>
            <a:off x="36704016" y="11960352"/>
            <a:ext cx="4553712" cy="1417320"/>
          </a:xfrm>
          <a:prstGeom prst="roundRect">
            <a:avLst/>
          </a:prstGeom>
          <a:solidFill>
            <a:srgbClr val="EDF4F9"/>
          </a:solidFill>
          <a:ln w="2159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1A2E4A"/>
                </a:solidFill>
                <a:latin typeface="Calibri"/>
              </a:rPr>
              <a:t>INDICATOR</a:t>
            </a:r>
          </a:p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Primary fan access</a:t>
            </a:r>
          </a:p>
        </p:txBody>
      </p:sp>
      <p:sp xmlns:a="http://schemas.openxmlformats.org/drawingml/2006/main">
        <p:nvSpPr>
          <p:cNvPr id="66" name="TextBox 65"/>
          <p:cNvSpPr txBox="1"/>
          <p:nvPr/>
        </p:nvSpPr>
        <p:spPr>
          <a:xfrm>
            <a:off x="30540960" y="13624560"/>
            <a:ext cx="10607040" cy="17373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Baseline (synthetic): 100.0% contest, 80.6% lottery.</a:t>
            </a:r>
          </a:p>
          <a:p>
            <a:pPr algn="l">
              <a:spcAft>
                <a:spcPts val="3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Risk: privacy burden / false rejection; cheap identities.</a:t>
            </a:r>
          </a:p>
          <a:p>
            <a:pPr algn="l">
              <a:spcAft>
                <a:spcPts val="3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Safeguards: appeals, auditability, accessible verification.</a:t>
            </a:r>
          </a:p>
          <a:p>
            <a:pPr algn="l">
              <a:spcAft>
                <a:spcPts val="300"/>
              </a:spcAft>
            </a:pPr>
            <a:r>
              <a:rPr sz="2300" b="0">
                <a:solidFill>
                  <a:srgbClr val="1A2E4A"/>
                </a:solidFill>
                <a:latin typeface="Calibri"/>
              </a:rPr>
              <a:t>Proposed benefit ≠ demonstrated field impact.</a:t>
            </a:r>
          </a:p>
        </p:txBody>
      </p:sp>
      <p:sp xmlns:a="http://schemas.openxmlformats.org/drawingml/2006/main">
        <p:nvSpPr>
          <p:cNvPr id="67" name="Rounded Rectangle 66"/>
          <p:cNvSpPr/>
          <p:nvPr/>
        </p:nvSpPr>
        <p:spPr>
          <a:xfrm>
            <a:off x="30568392" y="16642080"/>
            <a:ext cx="10744200" cy="1572768"/>
          </a:xfrm>
          <a:prstGeom prst="roundRect">
            <a:avLst/>
          </a:prstGeom>
          <a:solidFill>
            <a:srgbClr val="EDF4F9"/>
          </a:solidFill>
          <a:ln w="2159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A2E4A"/>
                </a:solidFill>
                <a:latin typeface="Calibri"/>
              </a:rPr>
              <a:t>ECONOMICS  |  Estimate effort / identity costs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Method: platform data + sensitivity · Partner: applied economics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Criterion: stable estimates · Milestone: calibrated sweep</a:t>
            </a:r>
          </a:p>
        </p:txBody>
      </p:sp>
      <p:sp xmlns:a="http://schemas.openxmlformats.org/drawingml/2006/main">
        <p:nvSpPr>
          <p:cNvPr id="68" name="Rounded Rectangle 67"/>
          <p:cNvSpPr/>
          <p:nvPr/>
        </p:nvSpPr>
        <p:spPr>
          <a:xfrm>
            <a:off x="30568392" y="18333720"/>
            <a:ext cx="10744200" cy="1572768"/>
          </a:xfrm>
          <a:prstGeom prst="roundRect">
            <a:avLst/>
          </a:prstGeom>
          <a:solidFill>
            <a:srgbClr val="EBF7F0"/>
          </a:solidFill>
          <a:ln w="2159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A2E4A"/>
                </a:solidFill>
                <a:latin typeface="Calibri"/>
              </a:rPr>
              <a:t>COMPUTER SCIENCE  |  Test adaptive scalpers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Method: rule-based ABM; optional LLM agents / OpenRouter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Partner: agent modelers · Criterion: reproducible logs · Milestone: ABM prototype</a:t>
            </a:r>
          </a:p>
        </p:txBody>
      </p:sp>
      <p:sp xmlns:a="http://schemas.openxmlformats.org/drawingml/2006/main">
        <p:nvSpPr>
          <p:cNvPr id="69" name="Rounded Rectangle 68"/>
          <p:cNvSpPr/>
          <p:nvPr/>
        </p:nvSpPr>
        <p:spPr>
          <a:xfrm>
            <a:off x="30568392" y="20025360"/>
            <a:ext cx="10744200" cy="1572768"/>
          </a:xfrm>
          <a:prstGeom prst="roundRect">
            <a:avLst/>
          </a:prstGeom>
          <a:solidFill>
            <a:srgbClr val="EDF4F9"/>
          </a:solidFill>
          <a:ln w="2159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A2E4A"/>
                </a:solidFill>
                <a:latin typeface="Calibri"/>
              </a:rPr>
              <a:t>BEHAVIORAL SCIENCE  |  Test fairness perceptions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Method: structured pilot choices · Partner: behavioral researchers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A2E4A"/>
                </a:solidFill>
                <a:latin typeface="Calibri"/>
              </a:rPr>
              <a:t>Criterion: measured deviations · Milestone: pilot dataset</a:t>
            </a:r>
          </a:p>
        </p:txBody>
      </p:sp>
      <p:pic xmlns:a="http://schemas.openxmlformats.org/drawingml/2006/main" xmlns:r="http://schemas.openxmlformats.org/officeDocument/2006/relationships">
        <p:nvPicPr>
          <p:cNvPr id="70" name="Picture 6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7760" y="28401264"/>
            <a:ext cx="877824" cy="877824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1" name="Picture 7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98776" y="28401264"/>
            <a:ext cx="877824" cy="87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2026-10-12T01:39:19.2740000Z</dcterms:created>
  <dcterms:modified xsi:type="dcterms:W3CDTF">2026-10-12T01:39:19.2740000Z</dcterms:modified>
</coreProperties>
</file>